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62" r:id="rId4"/>
    <p:sldId id="267" r:id="rId5"/>
    <p:sldId id="271" r:id="rId6"/>
    <p:sldId id="295" r:id="rId7"/>
    <p:sldId id="260" r:id="rId8"/>
    <p:sldId id="259" r:id="rId9"/>
    <p:sldId id="261" r:id="rId10"/>
    <p:sldId id="268" r:id="rId11"/>
    <p:sldId id="264" r:id="rId12"/>
    <p:sldId id="277" r:id="rId13"/>
    <p:sldId id="293" r:id="rId14"/>
    <p:sldId id="294" r:id="rId15"/>
    <p:sldId id="272" r:id="rId16"/>
    <p:sldId id="278" r:id="rId17"/>
  </p:sldIdLst>
  <p:sldSz cx="9144000" cy="5143500" type="screen16x9"/>
  <p:notesSz cx="6858000" cy="9144000"/>
  <p:embeddedFontLst>
    <p:embeddedFont>
      <p:font typeface="Kulim Park" panose="020B0604020202020204" charset="0"/>
      <p:regular r:id="rId19"/>
      <p:bold r:id="rId20"/>
      <p:italic r:id="rId21"/>
      <p:boldItalic r:id="rId22"/>
    </p:embeddedFont>
    <p:embeddedFont>
      <p:font typeface="Kulim Park Ligh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6F6F"/>
    <a:srgbClr val="006A6B"/>
    <a:srgbClr val="00B2C2"/>
    <a:srgbClr val="00B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1E243-89B7-4B8B-8C92-F5915831E9D5}" v="1" dt="2026-06-28T18:00:28.168"/>
  </p1510:revLst>
</p1510:revInfo>
</file>

<file path=ppt/tableStyles.xml><?xml version="1.0" encoding="utf-8"?>
<a:tblStyleLst xmlns:a="http://schemas.openxmlformats.org/drawingml/2006/main" def="{A6471979-4F55-4329-A02F-D7CC4A76CC44}">
  <a:tblStyle styleId="{A6471979-4F55-4329-A02F-D7CC4A76CC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350D49-ADD6-414F-94D5-E7D26D3637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68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José Soto Rodriguez" userId="8579524ee905eeb0" providerId="LiveId" clId="{91492753-084A-4B79-A29B-83CB255317B8}"/>
    <pc:docChg chg="modSld">
      <pc:chgData name="Antonio José Soto Rodriguez" userId="8579524ee905eeb0" providerId="LiveId" clId="{91492753-084A-4B79-A29B-83CB255317B8}" dt="2026-06-28T18:02:02.351" v="5" actId="6549"/>
      <pc:docMkLst>
        <pc:docMk/>
      </pc:docMkLst>
      <pc:sldChg chg="modSp">
        <pc:chgData name="Antonio José Soto Rodriguez" userId="8579524ee905eeb0" providerId="LiveId" clId="{91492753-084A-4B79-A29B-83CB255317B8}" dt="2026-06-28T18:00:28.167" v="0" actId="14826"/>
        <pc:sldMkLst>
          <pc:docMk/>
          <pc:sldMk cId="0" sldId="258"/>
        </pc:sldMkLst>
        <pc:picChg chg="mod">
          <ac:chgData name="Antonio José Soto Rodriguez" userId="8579524ee905eeb0" providerId="LiveId" clId="{91492753-084A-4B79-A29B-83CB255317B8}" dt="2026-06-28T18:00:28.167" v="0" actId="14826"/>
          <ac:picMkLst>
            <pc:docMk/>
            <pc:sldMk cId="0" sldId="258"/>
            <ac:picMk id="15" creationId="{573826F0-C10D-47DF-AB97-5A8D2FA996ED}"/>
          </ac:picMkLst>
        </pc:picChg>
      </pc:sldChg>
      <pc:sldChg chg="modSp mod">
        <pc:chgData name="Antonio José Soto Rodriguez" userId="8579524ee905eeb0" providerId="LiveId" clId="{91492753-084A-4B79-A29B-83CB255317B8}" dt="2026-06-28T18:02:02.351" v="5" actId="6549"/>
        <pc:sldMkLst>
          <pc:docMk/>
          <pc:sldMk cId="0" sldId="293"/>
        </pc:sldMkLst>
        <pc:spChg chg="mod">
          <ac:chgData name="Antonio José Soto Rodriguez" userId="8579524ee905eeb0" providerId="LiveId" clId="{91492753-084A-4B79-A29B-83CB255317B8}" dt="2026-06-28T18:02:02.351" v="5" actId="6549"/>
          <ac:spMkLst>
            <pc:docMk/>
            <pc:sldMk cId="0" sldId="293"/>
            <ac:spMk id="1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8" y="-13"/>
            <a:ext cx="7710766" cy="5142022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658575"/>
            <a:ext cx="3620100" cy="382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BE03E8CB-865C-F078-12C7-FBA6C05CB6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  Descripción generada automáticamente">
            <a:extLst>
              <a:ext uri="{FF2B5EF4-FFF2-40B4-BE49-F238E27FC236}">
                <a16:creationId xmlns:a16="http://schemas.microsoft.com/office/drawing/2014/main" id="{35D5BA27-978A-1213-E604-6AC1117516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2509" y="1499944"/>
            <a:ext cx="2121381" cy="21436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8" y="-15"/>
            <a:ext cx="8946259" cy="5142022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D0D9A1AC-8BB2-D6EE-DDCC-0130845F4E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15" y="-12"/>
            <a:ext cx="9144000" cy="5142760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2693100" y="2161800"/>
            <a:ext cx="37581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55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marL="1828800" lvl="3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marL="2286000" lvl="4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marL="2743200" lvl="5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marL="3200400" lvl="6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marL="3657600" lvl="7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marL="4114800" lvl="8" indent="-3556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3593400" y="705169"/>
            <a:ext cx="1957200" cy="6537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9600">
              <a:solidFill>
                <a:schemeClr val="accent4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2C1A733E-88F7-63C8-8E74-946535159E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1" y="-1329"/>
            <a:ext cx="9144884" cy="5147195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31E343B1-64B4-47FA-D092-5ED384591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  Descripción generada automáticamente">
            <a:extLst>
              <a:ext uri="{FF2B5EF4-FFF2-40B4-BE49-F238E27FC236}">
                <a16:creationId xmlns:a16="http://schemas.microsoft.com/office/drawing/2014/main" id="{CE43CE59-C59E-8737-1BC1-1D1308094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51795" y="215633"/>
            <a:ext cx="975093" cy="9853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6" y="-37"/>
            <a:ext cx="6256515" cy="5142022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457200" y="1051625"/>
            <a:ext cx="27723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457200" y="2049800"/>
            <a:ext cx="2772300" cy="24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208E68E2-509E-7D7D-D555-997DF395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  Descripción generada automáticamente">
            <a:extLst>
              <a:ext uri="{FF2B5EF4-FFF2-40B4-BE49-F238E27FC236}">
                <a16:creationId xmlns:a16="http://schemas.microsoft.com/office/drawing/2014/main" id="{C3C0310F-0F47-BB91-F500-F33F0C5BAD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92231" y="1345157"/>
            <a:ext cx="2184841" cy="22077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5" y="-10"/>
            <a:ext cx="9145330" cy="5142763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2472081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4486962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9DE80203-EB4D-363F-CE65-F07AFFED7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1" y="-1329"/>
            <a:ext cx="9144884" cy="5147195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A161CC61-D77F-7908-5D82-89C7006DFA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  Descripción generada automáticamente">
            <a:extLst>
              <a:ext uri="{FF2B5EF4-FFF2-40B4-BE49-F238E27FC236}">
                <a16:creationId xmlns:a16="http://schemas.microsoft.com/office/drawing/2014/main" id="{881260CC-932B-A0A5-E61A-1A2B1638B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071" y="101573"/>
            <a:ext cx="1112729" cy="11243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15" y="1"/>
            <a:ext cx="9144000" cy="5143352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B037B24D-D9D8-4599-6B46-3730A22710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15" y="1"/>
            <a:ext cx="9144000" cy="5143352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C4057083-DE0E-5801-D5DF-300B89E797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_1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15" y="-12"/>
            <a:ext cx="9144000" cy="5142760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" name="Imagen 1" descr="Interfaz de usuario gráfica  Descripción generada automáticamente">
            <a:extLst>
              <a:ext uri="{FF2B5EF4-FFF2-40B4-BE49-F238E27FC236}">
                <a16:creationId xmlns:a16="http://schemas.microsoft.com/office/drawing/2014/main" id="{58C0D3C7-F911-9913-0C9A-A1E1C52543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>
            <a:spLocks noGrp="1"/>
          </p:cNvSpPr>
          <p:nvPr>
            <p:ph type="ctrTitle"/>
          </p:nvPr>
        </p:nvSpPr>
        <p:spPr>
          <a:xfrm>
            <a:off x="95563" y="878659"/>
            <a:ext cx="4224025" cy="383621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06A6B"/>
                </a:solidFill>
              </a:rPr>
              <a:t>App inteligente</a:t>
            </a:r>
            <a:br>
              <a:rPr lang="es-ES" sz="3200" b="1" dirty="0">
                <a:solidFill>
                  <a:srgbClr val="006A6B"/>
                </a:solidFill>
              </a:rPr>
            </a:br>
            <a:r>
              <a:rPr lang="es-ES" sz="3200" b="1" dirty="0">
                <a:solidFill>
                  <a:srgbClr val="006A6B"/>
                </a:solidFill>
              </a:rPr>
              <a:t>de retail multicanal</a:t>
            </a:r>
            <a:br>
              <a:rPr lang="es-ES" sz="2400" dirty="0">
                <a:solidFill>
                  <a:srgbClr val="00B2C2"/>
                </a:solidFill>
              </a:rPr>
            </a:br>
            <a:r>
              <a:rPr lang="es-ES" sz="2400" dirty="0">
                <a:solidFill>
                  <a:srgbClr val="00B2C2"/>
                </a:solidFill>
              </a:rPr>
              <a:t>datos · scoring · IA</a:t>
            </a:r>
            <a:br>
              <a:rPr lang="es-ES" sz="1200" dirty="0"/>
            </a:br>
            <a:br>
              <a:rPr lang="es-ES" sz="1200" dirty="0"/>
            </a:br>
            <a:r>
              <a:rPr lang="es-ES" sz="1200" dirty="0">
                <a:solidFill>
                  <a:srgbClr val="006A6B"/>
                </a:solidFill>
              </a:rPr>
              <a:t>Tenerife Summer Sessions 2026</a:t>
            </a:r>
            <a:br>
              <a:rPr lang="es-ES" sz="1200" dirty="0">
                <a:solidFill>
                  <a:srgbClr val="00B2C2"/>
                </a:solidFill>
              </a:rPr>
            </a:br>
            <a:r>
              <a:rPr lang="es-ES" sz="1200" dirty="0">
                <a:solidFill>
                  <a:srgbClr val="00B2C2"/>
                </a:solidFill>
              </a:rPr>
              <a:t>GuarandingaTECH · Sesión de 45 min</a:t>
            </a:r>
            <a:endParaRPr lang="es-E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4F7DDA-7391-A90B-9019-CE27A8387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41095" cy="5160729"/>
          </a:xfrm>
          <a:prstGeom prst="rect">
            <a:avLst/>
          </a:prstGeom>
        </p:spPr>
      </p:pic>
      <p:sp>
        <p:nvSpPr>
          <p:cNvPr id="161" name="Google Shape;161;p16"/>
          <p:cNvSpPr txBox="1">
            <a:spLocks noGrp="1"/>
          </p:cNvSpPr>
          <p:nvPr>
            <p:ph type="title"/>
          </p:nvPr>
        </p:nvSpPr>
        <p:spPr>
          <a:xfrm>
            <a:off x="189531" y="286684"/>
            <a:ext cx="2772300" cy="117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chemeClr val="bg1"/>
                </a:solidFill>
              </a:rPr>
              <a:t>Hola</a:t>
            </a:r>
            <a:endParaRPr sz="9000" dirty="0">
              <a:solidFill>
                <a:schemeClr val="bg1"/>
              </a:solidFill>
            </a:endParaRPr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1"/>
          </p:nvPr>
        </p:nvSpPr>
        <p:spPr>
          <a:xfrm>
            <a:off x="2970602" y="210934"/>
            <a:ext cx="2772300" cy="24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Kulim Park"/>
                <a:ea typeface="Kulim Park"/>
                <a:cs typeface="Kulim Park"/>
                <a:sym typeface="Kulim Park"/>
              </a:rPr>
              <a:t>Antonio Soto</a:t>
            </a:r>
            <a:endParaRPr b="1" dirty="0">
              <a:solidFill>
                <a:schemeClr val="accent1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Director de Datos &amp; IA · Microsoft MVP (Fabric &amp; Foundry)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73826F0-C10D-47DF-AB97-5A8D2FA996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42" r="5842"/>
          <a:stretch/>
        </p:blipFill>
        <p:spPr>
          <a:xfrm>
            <a:off x="5923662" y="1309188"/>
            <a:ext cx="2756627" cy="278889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>
            <a:spLocks noGrp="1"/>
          </p:cNvSpPr>
          <p:nvPr>
            <p:ph type="ctrTitle" idx="4294967295"/>
          </p:nvPr>
        </p:nvSpPr>
        <p:spPr>
          <a:xfrm>
            <a:off x="2404575" y="2644150"/>
            <a:ext cx="4334400" cy="784800"/>
          </a:xfrm>
          <a:prstGeom prst="rect">
            <a:avLst/>
          </a:prstGeom>
          <a:effectLst>
            <a:outerShdw blurRad="142875" dist="381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Del caos a la app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192" name="Google Shape;192;p20"/>
          <p:cNvSpPr txBox="1">
            <a:spLocks noGrp="1"/>
          </p:cNvSpPr>
          <p:nvPr>
            <p:ph type="subTitle" idx="4294967295"/>
          </p:nvPr>
        </p:nvSpPr>
        <p:spPr>
          <a:xfrm>
            <a:off x="2475700" y="3411550"/>
            <a:ext cx="42633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Datos repartidos y sucios → una app que ayuda a decidir, en 45 minutos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801918" y="2397498"/>
            <a:ext cx="255593" cy="24404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" name="Google Shape;194;p20"/>
          <p:cNvGrpSpPr/>
          <p:nvPr/>
        </p:nvGrpSpPr>
        <p:grpSpPr>
          <a:xfrm>
            <a:off x="4484596" y="1027067"/>
            <a:ext cx="1094956" cy="1095228"/>
            <a:chOff x="6654650" y="3665275"/>
            <a:chExt cx="409100" cy="409125"/>
          </a:xfrm>
        </p:grpSpPr>
        <p:sp>
          <p:nvSpPr>
            <p:cNvPr id="195" name="Google Shape;195;p2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20"/>
          <p:cNvGrpSpPr/>
          <p:nvPr/>
        </p:nvGrpSpPr>
        <p:grpSpPr>
          <a:xfrm rot="1057000">
            <a:off x="3429567" y="1888291"/>
            <a:ext cx="723436" cy="723492"/>
            <a:chOff x="570875" y="4322250"/>
            <a:chExt cx="443300" cy="443325"/>
          </a:xfrm>
        </p:grpSpPr>
        <p:sp>
          <p:nvSpPr>
            <p:cNvPr id="198" name="Google Shape;198;p20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" name="Google Shape;202;p20"/>
          <p:cNvSpPr/>
          <p:nvPr/>
        </p:nvSpPr>
        <p:spPr>
          <a:xfrm rot="2466570">
            <a:off x="3510625" y="1239359"/>
            <a:ext cx="355107" cy="33906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 rot="-1609390">
            <a:off x="4029945" y="1452685"/>
            <a:ext cx="255567" cy="243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 rot="2926158">
            <a:off x="5579395" y="1646000"/>
            <a:ext cx="191399" cy="182754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 rot="-1609432">
            <a:off x="4512553" y="969735"/>
            <a:ext cx="172415" cy="16462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caso: FraSoHome, retail multicanal</a:t>
            </a:r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2519814" y="1809950"/>
            <a:ext cx="1212900" cy="442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CRM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3915868" y="2709650"/>
            <a:ext cx="1212900" cy="442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POS / Tienda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1123760" y="2709650"/>
            <a:ext cx="1212900" cy="442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E-commerce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457200" y="3609350"/>
            <a:ext cx="1212900" cy="442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Devoluciones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1790321" y="3609350"/>
            <a:ext cx="1212900" cy="442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Pagos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3249313" y="3609350"/>
            <a:ext cx="1212900" cy="442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Productos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4582434" y="3609350"/>
            <a:ext cx="1212900" cy="4425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ulim Park Light"/>
                <a:ea typeface="Kulim Park Light"/>
                <a:cs typeface="Kulim Park Light"/>
                <a:sym typeface="Kulim Park Light"/>
              </a:rPr>
              <a:t>Stock</a:t>
            </a:r>
            <a:endParaRPr>
              <a:solidFill>
                <a:schemeClr val="lt1"/>
              </a:solidFill>
              <a:latin typeface="Kulim Park Light"/>
              <a:ea typeface="Kulim Park Light"/>
              <a:cs typeface="Kulim Park Light"/>
              <a:sym typeface="Kulim Park Light"/>
            </a:endParaRPr>
          </a:p>
        </p:txBody>
      </p:sp>
      <p:cxnSp>
        <p:nvCxnSpPr>
          <p:cNvPr id="260" name="Google Shape;260;p25"/>
          <p:cNvCxnSpPr>
            <a:stCxn id="253" idx="2"/>
            <a:endCxn id="254" idx="0"/>
          </p:cNvCxnSpPr>
          <p:nvPr/>
        </p:nvCxnSpPr>
        <p:spPr>
          <a:xfrm rot="-5400000" flipH="1">
            <a:off x="3595764" y="1782950"/>
            <a:ext cx="457200" cy="1396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0D8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61;p25"/>
          <p:cNvCxnSpPr>
            <a:stCxn id="255" idx="0"/>
            <a:endCxn id="253" idx="2"/>
          </p:cNvCxnSpPr>
          <p:nvPr/>
        </p:nvCxnSpPr>
        <p:spPr>
          <a:xfrm rot="-5400000">
            <a:off x="2199710" y="1782950"/>
            <a:ext cx="457200" cy="1396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0D8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" name="Google Shape;262;p25"/>
          <p:cNvCxnSpPr>
            <a:stCxn id="255" idx="2"/>
            <a:endCxn id="257" idx="0"/>
          </p:cNvCxnSpPr>
          <p:nvPr/>
        </p:nvCxnSpPr>
        <p:spPr>
          <a:xfrm rot="-5400000" flipH="1">
            <a:off x="1834910" y="3047450"/>
            <a:ext cx="457200" cy="666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0D8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25"/>
          <p:cNvCxnSpPr>
            <a:stCxn id="256" idx="0"/>
            <a:endCxn id="255" idx="2"/>
          </p:cNvCxnSpPr>
          <p:nvPr/>
        </p:nvCxnSpPr>
        <p:spPr>
          <a:xfrm rot="-5400000">
            <a:off x="1168350" y="3047450"/>
            <a:ext cx="457200" cy="666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0D8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25"/>
          <p:cNvCxnSpPr>
            <a:stCxn id="254" idx="2"/>
            <a:endCxn id="259" idx="0"/>
          </p:cNvCxnSpPr>
          <p:nvPr/>
        </p:nvCxnSpPr>
        <p:spPr>
          <a:xfrm rot="-5400000" flipH="1">
            <a:off x="4627018" y="3047450"/>
            <a:ext cx="457200" cy="666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0D8E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25"/>
          <p:cNvCxnSpPr>
            <a:stCxn id="258" idx="0"/>
            <a:endCxn id="254" idx="2"/>
          </p:cNvCxnSpPr>
          <p:nvPr/>
        </p:nvCxnSpPr>
        <p:spPr>
          <a:xfrm rot="-5400000">
            <a:off x="3960463" y="3047450"/>
            <a:ext cx="457200" cy="666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0D8E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 txBox="1">
            <a:spLocks noGrp="1"/>
          </p:cNvSpPr>
          <p:nvPr>
            <p:ph type="ctrTitle" idx="4294967295"/>
          </p:nvPr>
        </p:nvSpPr>
        <p:spPr>
          <a:xfrm>
            <a:off x="2301775" y="724200"/>
            <a:ext cx="4540500" cy="8949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11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300" name="Google Shape;300;p29"/>
          <p:cNvSpPr txBox="1">
            <a:spLocks noGrp="1"/>
          </p:cNvSpPr>
          <p:nvPr>
            <p:ph type="subTitle" idx="4294967295"/>
          </p:nvPr>
        </p:nvSpPr>
        <p:spPr>
          <a:xfrm>
            <a:off x="2301775" y="1487507"/>
            <a:ext cx="4540500" cy="4632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fuentes que no se hablan entre sí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1" name="Google Shape;301;p29"/>
          <p:cNvSpPr txBox="1">
            <a:spLocks noGrp="1"/>
          </p:cNvSpPr>
          <p:nvPr>
            <p:ph type="ctrTitle" idx="4294967295"/>
          </p:nvPr>
        </p:nvSpPr>
        <p:spPr>
          <a:xfrm>
            <a:off x="2301775" y="3048294"/>
            <a:ext cx="4540500" cy="8949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5+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302" name="Google Shape;302;p29"/>
          <p:cNvSpPr txBox="1">
            <a:spLocks noGrp="1"/>
          </p:cNvSpPr>
          <p:nvPr>
            <p:ph type="subTitle" idx="4294967295"/>
          </p:nvPr>
        </p:nvSpPr>
        <p:spPr>
          <a:xfrm>
            <a:off x="2301775" y="3811601"/>
            <a:ext cx="4540500" cy="4632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formatos de fecha; más €, comas e IDs may/min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3" name="Google Shape;303;p29"/>
          <p:cNvSpPr txBox="1">
            <a:spLocks noGrp="1"/>
          </p:cNvSpPr>
          <p:nvPr>
            <p:ph type="ctrTitle" idx="4294967295"/>
          </p:nvPr>
        </p:nvSpPr>
        <p:spPr>
          <a:xfrm>
            <a:off x="2301775" y="1886247"/>
            <a:ext cx="4540500" cy="8949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</a:rPr>
              <a:t>12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304" name="Google Shape;304;p29"/>
          <p:cNvSpPr txBox="1">
            <a:spLocks noGrp="1"/>
          </p:cNvSpPr>
          <p:nvPr>
            <p:ph type="subTitle" idx="4294967295"/>
          </p:nvPr>
        </p:nvSpPr>
        <p:spPr>
          <a:xfrm>
            <a:off x="2301775" y="2649554"/>
            <a:ext cx="4540500" cy="4632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variantes de “tier” para 4 niveles reales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5" name="Google Shape;305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1"/>
          <p:cNvSpPr txBox="1">
            <a:spLocks noGrp="1"/>
          </p:cNvSpPr>
          <p:nvPr>
            <p:ph type="title" idx="4294967295"/>
          </p:nvPr>
        </p:nvSpPr>
        <p:spPr>
          <a:xfrm>
            <a:off x="457200" y="63715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 que construiremos en 45 minutos</a:t>
            </a:r>
            <a:endParaRPr dirty="0"/>
          </a:p>
        </p:txBody>
      </p:sp>
      <p:sp>
        <p:nvSpPr>
          <p:cNvPr id="476" name="Google Shape;476;p4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77" name="Google Shape;477;p41"/>
          <p:cNvSpPr/>
          <p:nvPr/>
        </p:nvSpPr>
        <p:spPr>
          <a:xfrm>
            <a:off x="0" y="25234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1"/>
          <p:cNvSpPr/>
          <p:nvPr/>
        </p:nvSpPr>
        <p:spPr>
          <a:xfrm>
            <a:off x="0" y="25234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9" name="Google Shape;479;p41"/>
          <p:cNvGrpSpPr/>
          <p:nvPr/>
        </p:nvGrpSpPr>
        <p:grpSpPr>
          <a:xfrm>
            <a:off x="1786339" y="1855801"/>
            <a:ext cx="473400" cy="473400"/>
            <a:chOff x="1786339" y="1703401"/>
            <a:chExt cx="473400" cy="473400"/>
          </a:xfrm>
        </p:grpSpPr>
        <p:sp>
          <p:nvSpPr>
            <p:cNvPr id="480" name="Google Shape;480;p41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481" name="Google Shape;481;p41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1</a:t>
              </a:r>
              <a:endParaRPr sz="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482" name="Google Shape;482;p41"/>
          <p:cNvGrpSpPr/>
          <p:nvPr/>
        </p:nvGrpSpPr>
        <p:grpSpPr>
          <a:xfrm>
            <a:off x="3814414" y="1855801"/>
            <a:ext cx="473400" cy="473400"/>
            <a:chOff x="3814414" y="1703401"/>
            <a:chExt cx="473400" cy="473400"/>
          </a:xfrm>
        </p:grpSpPr>
        <p:sp>
          <p:nvSpPr>
            <p:cNvPr id="483" name="Google Shape;483;p41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3</a:t>
              </a:r>
              <a:endParaRPr sz="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485" name="Google Shape;485;p41"/>
          <p:cNvGrpSpPr/>
          <p:nvPr/>
        </p:nvGrpSpPr>
        <p:grpSpPr>
          <a:xfrm>
            <a:off x="5842489" y="1855801"/>
            <a:ext cx="473400" cy="473400"/>
            <a:chOff x="5842489" y="1703401"/>
            <a:chExt cx="473400" cy="473400"/>
          </a:xfrm>
        </p:grpSpPr>
        <p:sp>
          <p:nvSpPr>
            <p:cNvPr id="486" name="Google Shape;486;p41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487" name="Google Shape;487;p41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5</a:t>
              </a:r>
              <a:endParaRPr sz="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488" name="Google Shape;488;p41"/>
          <p:cNvGrpSpPr/>
          <p:nvPr/>
        </p:nvGrpSpPr>
        <p:grpSpPr>
          <a:xfrm>
            <a:off x="6880814" y="3728700"/>
            <a:ext cx="473400" cy="473400"/>
            <a:chOff x="6880814" y="3576300"/>
            <a:chExt cx="473400" cy="473400"/>
          </a:xfrm>
        </p:grpSpPr>
        <p:sp>
          <p:nvSpPr>
            <p:cNvPr id="489" name="Google Shape;489;p41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490" name="Google Shape;490;p41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6</a:t>
              </a:r>
              <a:endParaRPr sz="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491" name="Google Shape;491;p41"/>
          <p:cNvGrpSpPr/>
          <p:nvPr/>
        </p:nvGrpSpPr>
        <p:grpSpPr>
          <a:xfrm>
            <a:off x="4852739" y="3728700"/>
            <a:ext cx="473400" cy="473400"/>
            <a:chOff x="4852739" y="3576300"/>
            <a:chExt cx="473400" cy="473400"/>
          </a:xfrm>
        </p:grpSpPr>
        <p:sp>
          <p:nvSpPr>
            <p:cNvPr id="492" name="Google Shape;492;p41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493" name="Google Shape;493;p41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4</a:t>
              </a:r>
              <a:endParaRPr sz="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494" name="Google Shape;494;p41"/>
          <p:cNvGrpSpPr/>
          <p:nvPr/>
        </p:nvGrpSpPr>
        <p:grpSpPr>
          <a:xfrm>
            <a:off x="2824664" y="3728700"/>
            <a:ext cx="473400" cy="473400"/>
            <a:chOff x="2824664" y="3576300"/>
            <a:chExt cx="473400" cy="473400"/>
          </a:xfrm>
        </p:grpSpPr>
        <p:sp>
          <p:nvSpPr>
            <p:cNvPr id="495" name="Google Shape;495;p41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496" name="Google Shape;496;p41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2</a:t>
              </a:r>
              <a:endParaRPr sz="6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sp>
        <p:nvSpPr>
          <p:cNvPr id="497" name="Google Shape;497;p41"/>
          <p:cNvSpPr txBox="1"/>
          <p:nvPr/>
        </p:nvSpPr>
        <p:spPr>
          <a:xfrm>
            <a:off x="1379850" y="13085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Ingesta + perfilado de calidad</a:t>
            </a:r>
            <a:endParaRPr sz="9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3377205" y="13085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Fact table integrada</a:t>
            </a:r>
            <a:endParaRPr sz="9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99" name="Google Shape;499;p41"/>
          <p:cNvSpPr txBox="1"/>
          <p:nvPr/>
        </p:nvSpPr>
        <p:spPr>
          <a:xfrm>
            <a:off x="5436010" y="13085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Scoring + app de exploración</a:t>
            </a:r>
            <a:endParaRPr sz="9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500" name="Google Shape;500;p41"/>
          <p:cNvSpPr txBox="1"/>
          <p:nvPr/>
        </p:nvSpPr>
        <p:spPr>
          <a:xfrm>
            <a:off x="2418175" y="42160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Limpieza y normalización</a:t>
            </a:r>
            <a:endParaRPr sz="9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501" name="Google Shape;501;p41"/>
          <p:cNvSpPr txBox="1"/>
          <p:nvPr/>
        </p:nvSpPr>
        <p:spPr>
          <a:xfrm>
            <a:off x="4446255" y="42160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Features de cliente y producto</a:t>
            </a:r>
            <a:endParaRPr sz="9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502" name="Google Shape;502;p41"/>
          <p:cNvSpPr txBox="1"/>
          <p:nvPr/>
        </p:nvSpPr>
        <p:spPr>
          <a:xfrm>
            <a:off x="6474335" y="42160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IA: preguntas en NL + recomendaciones</a:t>
            </a:r>
            <a:endParaRPr sz="9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>
            <a:spLocks noGrp="1"/>
          </p:cNvSpPr>
          <p:nvPr>
            <p:ph type="body" idx="1"/>
          </p:nvPr>
        </p:nvSpPr>
        <p:spPr>
          <a:xfrm>
            <a:off x="2693100" y="2161800"/>
            <a:ext cx="3758100" cy="81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 IA es la interfaz. El producto real es el dato confiable que la alimenta.</a:t>
            </a:r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Manos a la obra</a:t>
            </a:r>
            <a:endParaRPr dirty="0"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en vivo: del CSV crudo a la app inteligente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1 · Ingesta y perfilado de calidad</a:t>
            </a:r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33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Cargo las 11 fuentes crudas, sin tocar nada todavía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Perfilo calidad: nulos, duplicados, formatos y rangos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El problema clave: la misma categoría contada dos veces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b="1" i="1">
                <a:solidFill>
                  <a:srgbClr val="006A6B"/>
                </a:solidFill>
              </a:rPr>
              <a:t>Medir la calidad ANTES de prometer respuestas con IA.</a:t>
            </a:r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2 · Limpieza y fact table integrada</a:t>
            </a:r>
            <a:endParaRPr/>
          </a:p>
        </p:txBody>
      </p:sp>
      <p:graphicFrame>
        <p:nvGraphicFramePr>
          <p:cNvPr id="271" name="Google Shape;271;p26"/>
          <p:cNvGraphicFramePr/>
          <p:nvPr/>
        </p:nvGraphicFramePr>
        <p:xfrm>
          <a:off x="457200" y="1713656"/>
          <a:ext cx="5215200" cy="2810500"/>
        </p:xfrm>
        <a:graphic>
          <a:graphicData uri="http://schemas.openxmlformats.org/drawingml/2006/table">
            <a:tbl>
              <a:tblPr>
                <a:noFill/>
                <a:tableStyleId>{A6471979-4F55-4329-A02F-D7CC4A76CC44}</a:tableStyleId>
              </a:tblPr>
              <a:tblGrid>
                <a:gridCol w="130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2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Kulim Park Light"/>
                        </a:rPr>
                        <a:t>Campo</a:t>
                      </a:r>
                      <a:endParaRPr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Síntoma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Crudo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Limpio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6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Categoría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May/min mezclados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6 grupos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4 grupos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6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Importe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€ y coma decimal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texto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número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6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Kulim Park Light"/>
                          <a:ea typeface="Kulim Park Light"/>
                          <a:cs typeface="Kulim Park Light"/>
                          <a:sym typeface="Kulim Park Light"/>
                        </a:rPr>
                        <a:t>Cliente</a:t>
                      </a:r>
                      <a:endParaRPr sz="1100">
                        <a:solidFill>
                          <a:schemeClr val="dk1"/>
                        </a:solidFill>
                        <a:latin typeface="Kulim Park Light"/>
                        <a:ea typeface="Kulim Park Light"/>
                        <a:cs typeface="Kulim Park Light"/>
                        <a:sym typeface="Kulim Park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C0001 vs c0001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duplicado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único</a:t>
                      </a:r>
                      <a:endParaRPr b="1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D8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2" name="Google Shape;272;p2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>
            <a:spLocks noGrp="1"/>
          </p:cNvSpPr>
          <p:nvPr>
            <p:ph type="title"/>
          </p:nvPr>
        </p:nvSpPr>
        <p:spPr>
          <a:xfrm>
            <a:off x="457200" y="654247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 3 · Features de cliente y producto + scoring</a:t>
            </a:r>
            <a:endParaRPr dirty="0"/>
          </a:p>
        </p:txBody>
      </p:sp>
      <p:sp>
        <p:nvSpPr>
          <p:cNvPr id="225" name="Google Shape;225;p22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Features de cliente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Recencia, frecuencia, gasto total, ticket medio, tasa de devolución y antigüedad en el programa.</a:t>
            </a:r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body" idx="2"/>
          </p:nvPr>
        </p:nvSpPr>
        <p:spPr>
          <a:xfrm>
            <a:off x="2472081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Features de producto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Margen bruto, rotación, porcentaje de devolución y riesgo de rotura de stock por tienda.</a:t>
            </a:r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body" idx="3"/>
          </p:nvPr>
        </p:nvSpPr>
        <p:spPr>
          <a:xfrm>
            <a:off x="4486962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Scoring 0-100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Combino las señales en un único score. Resultado: 94 clientes en riesgo de fuga detectados.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229" name="Google Shape;229;p22"/>
          <p:cNvGrpSpPr/>
          <p:nvPr/>
        </p:nvGrpSpPr>
        <p:grpSpPr>
          <a:xfrm>
            <a:off x="8031979" y="2222617"/>
            <a:ext cx="799520" cy="1262776"/>
            <a:chOff x="1979475" y="4289300"/>
            <a:chExt cx="322400" cy="509225"/>
          </a:xfrm>
        </p:grpSpPr>
        <p:sp>
          <p:nvSpPr>
            <p:cNvPr id="230" name="Google Shape;230;p22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dist="76200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dist="76200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dist="76200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392" name="Google Shape;392;p35"/>
          <p:cNvGrpSpPr/>
          <p:nvPr/>
        </p:nvGrpSpPr>
        <p:grpSpPr>
          <a:xfrm>
            <a:off x="3488056" y="1496121"/>
            <a:ext cx="4905804" cy="2874252"/>
            <a:chOff x="1177450" y="241631"/>
            <a:chExt cx="6173152" cy="3616776"/>
          </a:xfrm>
        </p:grpSpPr>
        <p:sp>
          <p:nvSpPr>
            <p:cNvPr id="393" name="Google Shape;393;p35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5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35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35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35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030900" cy="163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rPr>
              <a:t>Demo 4 · App de exploración</a:t>
            </a:r>
            <a:endParaRPr b="1">
              <a:solidFill>
                <a:schemeClr val="accent4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Una app donde negocio explora ventas, margen y devoluciones por canal, categoría, tienda y cliente —sobre el dato ya limpio y con el scoring integrado.</a:t>
            </a:r>
            <a:endParaRPr sz="1800"/>
          </a:p>
        </p:txBody>
      </p:sp>
      <p:pic>
        <p:nvPicPr>
          <p:cNvPr id="398" name="Google Shape;398;p35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028725" y="1651474"/>
            <a:ext cx="3824451" cy="242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Imagen que contiene dibujo, juguete, lego, reloj  Descripción generada automáticamente">
            <a:extLst>
              <a:ext uri="{FF2B5EF4-FFF2-40B4-BE49-F238E27FC236}">
                <a16:creationId xmlns:a16="http://schemas.microsoft.com/office/drawing/2014/main" id="{7776F8B1-9C60-6595-6196-2C706C148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28" y="4352304"/>
            <a:ext cx="748911" cy="7950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5 · IA en lenguaje natural + recomendaciones</a:t>
            </a:r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33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 dirty="0"/>
              <a:t>“Qué categorías devuelven más y cómo afecta al margen?”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dirty="0"/>
              <a:t>“Compárame ventas y margen por canal frente al mes anterior”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dirty="0"/>
              <a:t>“Qué clientes en riesgo conviene reactivar y con qué oferta?”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b="1" i="1" dirty="0">
                <a:solidFill>
                  <a:srgbClr val="006A6B"/>
                </a:solidFill>
              </a:rPr>
              <a:t>Responde sobre métricas oficiales y devuelve una acción, no solo un número.</a:t>
            </a:r>
            <a:endParaRPr dirty="0"/>
          </a:p>
        </p:txBody>
      </p:sp>
      <p:sp>
        <p:nvSpPr>
          <p:cNvPr id="186" name="Google Shape;186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>
            <a:spLocks noGrp="1"/>
          </p:cNvSpPr>
          <p:nvPr>
            <p:ph type="title"/>
          </p:nvPr>
        </p:nvSpPr>
        <p:spPr>
          <a:xfrm>
            <a:off x="457200" y="654247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 que hemos construido en 45 minutos</a:t>
            </a:r>
            <a:endParaRPr dirty="0"/>
          </a:p>
        </p:txBody>
      </p:sp>
      <p:sp>
        <p:nvSpPr>
          <p:cNvPr id="225" name="Google Shape;225;p22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Del CSV crudo…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11 fuentes sucias, sin integrar y con la misma pregunta respondida de dos formas distintas.</a:t>
            </a:r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body" idx="2"/>
          </p:nvPr>
        </p:nvSpPr>
        <p:spPr>
          <a:xfrm>
            <a:off x="2472081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…a producto de datos…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Fact table integrada, features de cliente y producto y un scoring reproducible.</a:t>
            </a:r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body" idx="3"/>
          </p:nvPr>
        </p:nvSpPr>
        <p:spPr>
          <a:xfrm>
            <a:off x="4486962" y="1592600"/>
            <a:ext cx="18078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…a app + IA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Exploración visual y preguntas en lenguaje natural que terminan en una recomendación.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229" name="Google Shape;229;p22"/>
          <p:cNvGrpSpPr/>
          <p:nvPr/>
        </p:nvGrpSpPr>
        <p:grpSpPr>
          <a:xfrm>
            <a:off x="8031979" y="2222617"/>
            <a:ext cx="799520" cy="1262776"/>
            <a:chOff x="1979475" y="4289300"/>
            <a:chExt cx="322400" cy="509225"/>
          </a:xfrm>
        </p:grpSpPr>
        <p:sp>
          <p:nvSpPr>
            <p:cNvPr id="230" name="Google Shape;230;p22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dist="76200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dist="76200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00025" dist="76200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la demo a producción: 3 saltos</a:t>
            </a:r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grpSp>
        <p:nvGrpSpPr>
          <p:cNvPr id="312" name="Google Shape;312;p30"/>
          <p:cNvGrpSpPr/>
          <p:nvPr/>
        </p:nvGrpSpPr>
        <p:grpSpPr>
          <a:xfrm>
            <a:off x="457211" y="1668625"/>
            <a:ext cx="2726286" cy="2547000"/>
            <a:chOff x="1293736" y="1258050"/>
            <a:chExt cx="2726286" cy="2547000"/>
          </a:xfrm>
        </p:grpSpPr>
        <p:sp>
          <p:nvSpPr>
            <p:cNvPr id="313" name="Google Shape;313;p30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chemeClr val="dk1">
                  <a:alpha val="549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1</a:t>
              </a:r>
              <a:endParaRPr sz="1200" b="1">
                <a:solidFill>
                  <a:schemeClr val="accent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5" name="Google Shape;315;p30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Contrato antes que IA</a:t>
              </a:r>
              <a:endParaRPr sz="800" b="1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6" name="Google Shape;316;p30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Define fuente, grano, propietario y SLA del dato antes de abrir el agente a preguntas.</a:t>
              </a:r>
              <a:endParaRPr sz="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317" name="Google Shape;317;p30"/>
          <p:cNvGrpSpPr/>
          <p:nvPr/>
        </p:nvGrpSpPr>
        <p:grpSpPr>
          <a:xfrm>
            <a:off x="2367433" y="1668625"/>
            <a:ext cx="2726286" cy="2547000"/>
            <a:chOff x="3203958" y="1258050"/>
            <a:chExt cx="2726286" cy="2547000"/>
          </a:xfrm>
        </p:grpSpPr>
        <p:sp>
          <p:nvSpPr>
            <p:cNvPr id="318" name="Google Shape;318;p30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chemeClr val="dk1">
                  <a:alpha val="549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3"/>
                  </a:solidFill>
                  <a:latin typeface="Kulim Park"/>
                  <a:ea typeface="Kulim Park"/>
                  <a:cs typeface="Kulim Park"/>
                  <a:sym typeface="Kulim Park"/>
                </a:rPr>
                <a:t>2</a:t>
              </a:r>
              <a:endParaRPr sz="1200" b="1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0" name="Google Shape;320;p30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Calidad ejecutable</a:t>
              </a:r>
              <a:endParaRPr sz="800" b="1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1" name="Google Shape;321;p30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Las reglas de calidad viven cerca del dato, se ejecutan y dejan traza para auditar y reprocesar.</a:t>
              </a:r>
              <a:endParaRPr sz="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322" name="Google Shape;322;p30"/>
          <p:cNvGrpSpPr/>
          <p:nvPr/>
        </p:nvGrpSpPr>
        <p:grpSpPr>
          <a:xfrm>
            <a:off x="4287452" y="1668625"/>
            <a:ext cx="2726286" cy="2547000"/>
            <a:chOff x="5123977" y="1258050"/>
            <a:chExt cx="2726286" cy="2547000"/>
          </a:xfrm>
        </p:grpSpPr>
        <p:sp>
          <p:nvSpPr>
            <p:cNvPr id="323" name="Google Shape;323;p30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chemeClr val="dk1">
                  <a:alpha val="549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4"/>
                  </a:solidFill>
                  <a:latin typeface="Kulim Park"/>
                  <a:ea typeface="Kulim Park"/>
                  <a:cs typeface="Kulim Park"/>
                  <a:sym typeface="Kulim Park"/>
                </a:rPr>
                <a:t>3</a:t>
              </a:r>
              <a:endParaRPr sz="1200" b="1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5" name="Google Shape;325;p30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Métricas gobernadas</a:t>
              </a:r>
              <a:endParaRPr sz="800" b="1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6" name="Google Shape;326;p30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Una sola definición oficial de cada métrica, con permisos por fila y columna para personas y agentes.</a:t>
              </a:r>
              <a:endParaRPr sz="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>
            <a:spLocks noGrp="1"/>
          </p:cNvSpPr>
          <p:nvPr>
            <p:ph type="ctrTitle" idx="4294967295"/>
          </p:nvPr>
        </p:nvSpPr>
        <p:spPr>
          <a:xfrm>
            <a:off x="2140050" y="1965325"/>
            <a:ext cx="4863900" cy="768900"/>
          </a:xfrm>
          <a:prstGeom prst="rect">
            <a:avLst/>
          </a:prstGeom>
          <a:effectLst>
            <a:outerShdw blurRad="257175" dist="76200" dir="5400000" algn="bl" rotWithShape="0">
              <a:schemeClr val="dk1">
                <a:alpha val="64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¡Gracias!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404" name="Google Shape;404;p36"/>
          <p:cNvSpPr txBox="1">
            <a:spLocks noGrp="1"/>
          </p:cNvSpPr>
          <p:nvPr>
            <p:ph type="body" idx="4294967295"/>
          </p:nvPr>
        </p:nvSpPr>
        <p:spPr>
          <a:xfrm>
            <a:off x="2140050" y="2714375"/>
            <a:ext cx="4863900" cy="10734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5"/>
                </a:solidFill>
                <a:latin typeface="Kulim Park"/>
                <a:ea typeface="Kulim Park"/>
                <a:cs typeface="Kulim Park"/>
                <a:sym typeface="Kulim Park"/>
              </a:rPr>
              <a:t>¿Preguntas?</a:t>
            </a:r>
            <a:endParaRPr sz="2400" b="1">
              <a:solidFill>
                <a:schemeClr val="accent5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Antonio Soto — Dataging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@antoniosql · linkedin.com/in/antoniosql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5" name="Google Shape;4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4213974" y="1183225"/>
            <a:ext cx="716103" cy="642884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300038" dist="95250" dir="5400000" algn="bl" rotWithShape="0">
              <a:schemeClr val="dk1">
                <a:alpha val="6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lumnia template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605</Words>
  <Application>Microsoft Office PowerPoint</Application>
  <PresentationFormat>Presentación en pantalla (16:9)</PresentationFormat>
  <Paragraphs>105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Kulim Park Light</vt:lpstr>
      <vt:lpstr>Calibri</vt:lpstr>
      <vt:lpstr>Kulim Park</vt:lpstr>
      <vt:lpstr>Volumnia template</vt:lpstr>
      <vt:lpstr>App inteligente de retail multicanal datos · scoring · IA  Tenerife Summer Sessions 2026 GuarandingaTECH · Sesión de 45 min</vt:lpstr>
      <vt:lpstr>Hola</vt:lpstr>
      <vt:lpstr>Del caos a la app</vt:lpstr>
      <vt:lpstr>El caso: FraSoHome, retail multicanal</vt:lpstr>
      <vt:lpstr>11</vt:lpstr>
      <vt:lpstr>Lo que construiremos en 45 minutos</vt:lpstr>
      <vt:lpstr>Presentación de PowerPoint</vt:lpstr>
      <vt:lpstr>Manos a la obra</vt:lpstr>
      <vt:lpstr>Demo 1 · Ingesta y perfilado de calidad</vt:lpstr>
      <vt:lpstr>Demo 2 · Limpieza y fact table integrada</vt:lpstr>
      <vt:lpstr>Demo 3 · Features de cliente y producto + scoring</vt:lpstr>
      <vt:lpstr>Presentación de PowerPoint</vt:lpstr>
      <vt:lpstr>Demo 5 · IA en lenguaje natural + recomendaciones</vt:lpstr>
      <vt:lpstr>Lo que hemos construido en 45 minutos</vt:lpstr>
      <vt:lpstr>De la demo a producción: 3 saltos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Saturday Live  2021</dc:title>
  <cp:lastModifiedBy>Antonio José Soto Rodríguez</cp:lastModifiedBy>
  <cp:revision>14</cp:revision>
  <dcterms:modified xsi:type="dcterms:W3CDTF">2026-06-28T18:02:07Z</dcterms:modified>
</cp:coreProperties>
</file>